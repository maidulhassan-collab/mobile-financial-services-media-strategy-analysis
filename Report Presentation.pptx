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MT Pro" panose="020B0604020202020204" charset="0"/>
      <p:regular r:id="rId16"/>
    </p:embeddedFont>
    <p:embeddedFont>
      <p:font typeface="Arial MT Pr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40554" y="1297534"/>
            <a:ext cx="11404113" cy="11487660"/>
          </a:xfrm>
          <a:custGeom>
            <a:avLst/>
            <a:gdLst/>
            <a:ahLst/>
            <a:cxnLst/>
            <a:rect l="l" t="t" r="r" b="b"/>
            <a:pathLst>
              <a:path w="11404113" h="11487660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9642" y="4675025"/>
            <a:ext cx="6870968" cy="1817865"/>
            <a:chOff x="0" y="0"/>
            <a:chExt cx="3892107" cy="1029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92107" cy="1029742"/>
            </a:xfrm>
            <a:custGeom>
              <a:avLst/>
              <a:gdLst/>
              <a:ahLst/>
              <a:cxnLst/>
              <a:rect l="l" t="t" r="r" b="b"/>
              <a:pathLst>
                <a:path w="3892107" h="1029742">
                  <a:moveTo>
                    <a:pt x="3688907" y="0"/>
                  </a:moveTo>
                  <a:cubicBezTo>
                    <a:pt x="3801131" y="0"/>
                    <a:pt x="3892107" y="230516"/>
                    <a:pt x="3892107" y="514871"/>
                  </a:cubicBezTo>
                  <a:cubicBezTo>
                    <a:pt x="3892107" y="799226"/>
                    <a:pt x="3801131" y="1029742"/>
                    <a:pt x="3688907" y="1029742"/>
                  </a:cubicBezTo>
                  <a:lnTo>
                    <a:pt x="203200" y="1029742"/>
                  </a:lnTo>
                  <a:cubicBezTo>
                    <a:pt x="90976" y="1029742"/>
                    <a:pt x="0" y="799226"/>
                    <a:pt x="0" y="514871"/>
                  </a:cubicBezTo>
                  <a:cubicBezTo>
                    <a:pt x="0" y="23051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92107" cy="1067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56881" cy="3777209"/>
            </a:xfrm>
            <a:custGeom>
              <a:avLst/>
              <a:gdLst/>
              <a:ahLst/>
              <a:cxnLst/>
              <a:rect l="l" t="t" r="r" b="b"/>
              <a:pathLst>
                <a:path w="2956881" h="3777209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37530" cy="3777209"/>
            </a:xfrm>
            <a:custGeom>
              <a:avLst/>
              <a:gdLst/>
              <a:ahLst/>
              <a:cxnLst/>
              <a:rect l="l" t="t" r="r" b="b"/>
              <a:pathLst>
                <a:path w="2837530" h="3777209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7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54482" y="3201063"/>
            <a:ext cx="14404718" cy="1348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04"/>
              </a:lnSpc>
            </a:pPr>
            <a:r>
              <a:rPr lang="en-US" sz="5800" b="1" spc="-92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Mobile Financial Services (MFS) TV Advertising Campaign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54482" y="5172075"/>
            <a:ext cx="5242534" cy="76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302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Topic: Mobile Financial Service (MFS) TV Advertising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54482" y="8497338"/>
            <a:ext cx="5242534" cy="76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302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Presented by:</a:t>
            </a:r>
          </a:p>
          <a:p>
            <a:pPr algn="l">
              <a:lnSpc>
                <a:spcPts val="2658"/>
              </a:lnSpc>
            </a:pPr>
            <a:r>
              <a:rPr lang="en-US" sz="302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Md. Maidul Hassan Shanto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8811" y="5415589"/>
            <a:ext cx="7089518" cy="3309700"/>
            <a:chOff x="0" y="0"/>
            <a:chExt cx="1867198" cy="871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7198" cy="871690"/>
            </a:xfrm>
            <a:custGeom>
              <a:avLst/>
              <a:gdLst/>
              <a:ahLst/>
              <a:cxnLst/>
              <a:rect l="l" t="t" r="r" b="b"/>
              <a:pathLst>
                <a:path w="1867198" h="871690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9944100" y="2520948"/>
          <a:ext cx="7315200" cy="5381626"/>
        </p:xfrm>
        <a:graphic>
          <a:graphicData uri="http://schemas.openxmlformats.org/drawingml/2006/table">
            <a:tbl>
              <a:tblPr/>
              <a:tblGrid>
                <a:gridCol w="1435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54052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MFS Brands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Share of Spend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Share of Voice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 b="1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Media Efficiency Index</a:t>
                      </a:r>
                      <a:endParaRPr lang="en-US" sz="1100"/>
                    </a:p>
                    <a:p>
                      <a:pPr algn="ctr">
                        <a:lnSpc>
                          <a:spcPts val="2206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 b="1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Strategic Position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858"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bKash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73%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83%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1.14</a:t>
                      </a:r>
                      <a:endParaRPr lang="en-US" sz="1100"/>
                    </a:p>
                    <a:p>
                      <a:pPr algn="ctr">
                        <a:lnSpc>
                          <a:spcPts val="2206"/>
                        </a:lnSpc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(High Efficiency)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Market Leader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858"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DBBL Rocket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0.61</a:t>
                      </a:r>
                      <a:endParaRPr lang="en-US" sz="1100"/>
                    </a:p>
                    <a:p>
                      <a:pPr algn="ctr">
                        <a:lnSpc>
                          <a:spcPts val="2206"/>
                        </a:lnSpc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(Low Efficiency)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Top Challenger</a:t>
                      </a:r>
                      <a:endParaRPr lang="en-US" sz="1100"/>
                    </a:p>
                    <a:p>
                      <a:pPr algn="ctr">
                        <a:lnSpc>
                          <a:spcPts val="2206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858"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Islami Bank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0.67</a:t>
                      </a:r>
                      <a:endParaRPr lang="en-US" sz="1100"/>
                    </a:p>
                    <a:p>
                      <a:pPr algn="ctr">
                        <a:lnSpc>
                          <a:spcPts val="2206"/>
                        </a:lnSpc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(Low Efficiency)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Niche Player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054482" y="2361150"/>
            <a:ext cx="7089518" cy="237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sz="4866" b="1" spc="-20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Macro-Market Dynamics: Capital Deployment vs. Airtime Dominance</a:t>
            </a:r>
          </a:p>
          <a:p>
            <a:pPr algn="l">
              <a:lnSpc>
                <a:spcPts val="2911"/>
              </a:lnSpc>
            </a:pPr>
            <a:endParaRPr lang="en-US" sz="4866" b="1" spc="-204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54482" y="6413603"/>
            <a:ext cx="3399391" cy="65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300" b="1" spc="-9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Big Three</a:t>
            </a:r>
          </a:p>
          <a:p>
            <a:pPr algn="l">
              <a:lnSpc>
                <a:spcPts val="2392"/>
              </a:lnSpc>
            </a:pPr>
            <a:endParaRPr lang="en-US" sz="2300" b="1" spc="-96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30782" y="7330158"/>
            <a:ext cx="5524678" cy="10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15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 dominates the MFS market, turning 73% spend into 83% voice (Efficiency Index: 1.14). DBBL Rocket overpays, with 23% spend generating only 14% voice (Index: 0.61). Islami Bank remains small, 3% spend for 2% voice (Index: 0.67).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587031"/>
            <a:ext cx="4291051" cy="2461560"/>
            <a:chOff x="0" y="0"/>
            <a:chExt cx="1130153" cy="6483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0153" cy="648312"/>
            </a:xfrm>
            <a:custGeom>
              <a:avLst/>
              <a:gdLst/>
              <a:ahLst/>
              <a:cxnLst/>
              <a:rect l="l" t="t" r="r" b="b"/>
              <a:pathLst>
                <a:path w="1130153" h="648312">
                  <a:moveTo>
                    <a:pt x="68560" y="0"/>
                  </a:moveTo>
                  <a:lnTo>
                    <a:pt x="1061594" y="0"/>
                  </a:lnTo>
                  <a:cubicBezTo>
                    <a:pt x="1079777" y="0"/>
                    <a:pt x="1097215" y="7223"/>
                    <a:pt x="1110073" y="20081"/>
                  </a:cubicBezTo>
                  <a:cubicBezTo>
                    <a:pt x="1122930" y="32938"/>
                    <a:pt x="1130153" y="50377"/>
                    <a:pt x="1130153" y="68560"/>
                  </a:cubicBezTo>
                  <a:lnTo>
                    <a:pt x="1130153" y="579753"/>
                  </a:lnTo>
                  <a:cubicBezTo>
                    <a:pt x="1130153" y="597936"/>
                    <a:pt x="1122930" y="615374"/>
                    <a:pt x="1110073" y="628232"/>
                  </a:cubicBezTo>
                  <a:cubicBezTo>
                    <a:pt x="1097215" y="641089"/>
                    <a:pt x="1079777" y="648312"/>
                    <a:pt x="1061594" y="648312"/>
                  </a:cubicBezTo>
                  <a:lnTo>
                    <a:pt x="68560" y="648312"/>
                  </a:lnTo>
                  <a:cubicBezTo>
                    <a:pt x="50377" y="648312"/>
                    <a:pt x="32938" y="641089"/>
                    <a:pt x="20081" y="628232"/>
                  </a:cubicBezTo>
                  <a:cubicBezTo>
                    <a:pt x="7223" y="615374"/>
                    <a:pt x="0" y="597936"/>
                    <a:pt x="0" y="579753"/>
                  </a:cubicBezTo>
                  <a:lnTo>
                    <a:pt x="0" y="68560"/>
                  </a:lnTo>
                  <a:cubicBezTo>
                    <a:pt x="0" y="50377"/>
                    <a:pt x="7223" y="32938"/>
                    <a:pt x="20081" y="20081"/>
                  </a:cubicBezTo>
                  <a:cubicBezTo>
                    <a:pt x="32938" y="7223"/>
                    <a:pt x="50377" y="0"/>
                    <a:pt x="68560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130153" cy="62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2135307"/>
            <a:ext cx="13319629" cy="5106853"/>
          </a:xfrm>
          <a:custGeom>
            <a:avLst/>
            <a:gdLst/>
            <a:ahLst/>
            <a:cxnLst/>
            <a:rect l="l" t="t" r="r" b="b"/>
            <a:pathLst>
              <a:path w="13319629" h="5106853">
                <a:moveTo>
                  <a:pt x="0" y="0"/>
                </a:moveTo>
                <a:lnTo>
                  <a:pt x="13319629" y="0"/>
                </a:lnTo>
                <a:lnTo>
                  <a:pt x="13319629" y="5106853"/>
                </a:lnTo>
                <a:lnTo>
                  <a:pt x="0" y="5106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274233"/>
            <a:ext cx="8324070" cy="403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b="1" spc="-126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Media Investment vs Visibility 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426273"/>
            <a:ext cx="4291051" cy="135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15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March 2025 and 2026 see predictable spikes in MFS TV spending due to the pre-Eid retail rush. Brands compress budgets to maximize transactional wallet share in a short window.</a:t>
            </a:r>
          </a:p>
          <a:p>
            <a:pPr algn="l">
              <a:lnSpc>
                <a:spcPts val="2135"/>
              </a:lnSpc>
              <a:spcBef>
                <a:spcPct val="0"/>
              </a:spcBef>
            </a:pPr>
            <a:endParaRPr lang="en-US" sz="1525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7952322"/>
            <a:ext cx="6381558" cy="35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300" b="1" spc="-9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Festive Surge Mechanics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77467" y="7587031"/>
            <a:ext cx="4126895" cy="2461560"/>
            <a:chOff x="0" y="0"/>
            <a:chExt cx="1086919" cy="6483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86919" cy="648312"/>
            </a:xfrm>
            <a:custGeom>
              <a:avLst/>
              <a:gdLst/>
              <a:ahLst/>
              <a:cxnLst/>
              <a:rect l="l" t="t" r="r" b="b"/>
              <a:pathLst>
                <a:path w="1086919" h="648312">
                  <a:moveTo>
                    <a:pt x="71287" y="0"/>
                  </a:moveTo>
                  <a:lnTo>
                    <a:pt x="1015632" y="0"/>
                  </a:lnTo>
                  <a:cubicBezTo>
                    <a:pt x="1055003" y="0"/>
                    <a:pt x="1086919" y="31916"/>
                    <a:pt x="1086919" y="71287"/>
                  </a:cubicBezTo>
                  <a:lnTo>
                    <a:pt x="1086919" y="577025"/>
                  </a:lnTo>
                  <a:cubicBezTo>
                    <a:pt x="1086919" y="616396"/>
                    <a:pt x="1055003" y="648312"/>
                    <a:pt x="1015632" y="648312"/>
                  </a:cubicBezTo>
                  <a:lnTo>
                    <a:pt x="71287" y="648312"/>
                  </a:lnTo>
                  <a:cubicBezTo>
                    <a:pt x="31916" y="648312"/>
                    <a:pt x="0" y="616396"/>
                    <a:pt x="0" y="577025"/>
                  </a:cubicBezTo>
                  <a:lnTo>
                    <a:pt x="0" y="71287"/>
                  </a:lnTo>
                  <a:cubicBezTo>
                    <a:pt x="0" y="31916"/>
                    <a:pt x="31916" y="0"/>
                    <a:pt x="7128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086919" cy="62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61562" y="7587031"/>
            <a:ext cx="3986767" cy="2461560"/>
            <a:chOff x="0" y="0"/>
            <a:chExt cx="1050013" cy="6483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0013" cy="648312"/>
            </a:xfrm>
            <a:custGeom>
              <a:avLst/>
              <a:gdLst/>
              <a:ahLst/>
              <a:cxnLst/>
              <a:rect l="l" t="t" r="r" b="b"/>
              <a:pathLst>
                <a:path w="1050013" h="648312">
                  <a:moveTo>
                    <a:pt x="73792" y="0"/>
                  </a:moveTo>
                  <a:lnTo>
                    <a:pt x="976220" y="0"/>
                  </a:lnTo>
                  <a:cubicBezTo>
                    <a:pt x="995791" y="0"/>
                    <a:pt x="1014561" y="7775"/>
                    <a:pt x="1028399" y="21613"/>
                  </a:cubicBezTo>
                  <a:cubicBezTo>
                    <a:pt x="1042238" y="35452"/>
                    <a:pt x="1050013" y="54221"/>
                    <a:pt x="1050013" y="73792"/>
                  </a:cubicBezTo>
                  <a:lnTo>
                    <a:pt x="1050013" y="574520"/>
                  </a:lnTo>
                  <a:cubicBezTo>
                    <a:pt x="1050013" y="594091"/>
                    <a:pt x="1042238" y="612860"/>
                    <a:pt x="1028399" y="626699"/>
                  </a:cubicBezTo>
                  <a:cubicBezTo>
                    <a:pt x="1014561" y="640538"/>
                    <a:pt x="995791" y="648312"/>
                    <a:pt x="976220" y="648312"/>
                  </a:cubicBezTo>
                  <a:lnTo>
                    <a:pt x="73792" y="648312"/>
                  </a:lnTo>
                  <a:cubicBezTo>
                    <a:pt x="54221" y="648312"/>
                    <a:pt x="35452" y="640538"/>
                    <a:pt x="21613" y="626699"/>
                  </a:cubicBezTo>
                  <a:cubicBezTo>
                    <a:pt x="7775" y="612860"/>
                    <a:pt x="0" y="594091"/>
                    <a:pt x="0" y="574520"/>
                  </a:cubicBezTo>
                  <a:lnTo>
                    <a:pt x="0" y="73792"/>
                  </a:lnTo>
                  <a:cubicBezTo>
                    <a:pt x="0" y="54221"/>
                    <a:pt x="7775" y="35452"/>
                    <a:pt x="21613" y="21613"/>
                  </a:cubicBezTo>
                  <a:cubicBezTo>
                    <a:pt x="35452" y="7775"/>
                    <a:pt x="54221" y="0"/>
                    <a:pt x="73792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1050013" cy="62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777467" y="7952322"/>
            <a:ext cx="6381558" cy="35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300" b="1" spc="-9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Challenger Premium Penalty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77467" y="8426273"/>
            <a:ext cx="4126895" cy="135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15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Competitors overpay during these peaks, with SOS% exceeding SOV%, paying more for limited visibility in high-cost, cluttered Prime Time and sports slots.</a:t>
            </a:r>
          </a:p>
          <a:p>
            <a:pPr algn="l">
              <a:lnSpc>
                <a:spcPts val="2135"/>
              </a:lnSpc>
              <a:spcBef>
                <a:spcPct val="0"/>
              </a:spcBef>
            </a:pPr>
            <a:endParaRPr lang="en-US" sz="1525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361562" y="7952322"/>
            <a:ext cx="6381558" cy="65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300" b="1" spc="-9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bKash’s Volumetric Efficiency: </a:t>
            </a:r>
          </a:p>
          <a:p>
            <a:pPr algn="l">
              <a:lnSpc>
                <a:spcPts val="2392"/>
              </a:lnSpc>
            </a:pPr>
            <a:endParaRPr lang="en-US" sz="2300" b="1" spc="-96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361562" y="8426273"/>
            <a:ext cx="3661787" cy="135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15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 avoids inefficient spikes, leveraging bulk agency deals to maintain strong baseline voice, ensuring high visibility without overspending.</a:t>
            </a:r>
          </a:p>
          <a:p>
            <a:pPr algn="l">
              <a:lnSpc>
                <a:spcPts val="2135"/>
              </a:lnSpc>
              <a:spcBef>
                <a:spcPct val="0"/>
              </a:spcBef>
            </a:pPr>
            <a:endParaRPr lang="en-US" sz="1525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5538" y="5632115"/>
            <a:ext cx="7089518" cy="3172903"/>
            <a:chOff x="0" y="0"/>
            <a:chExt cx="1867198" cy="8356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7198" cy="835662"/>
            </a:xfrm>
            <a:custGeom>
              <a:avLst/>
              <a:gdLst/>
              <a:ahLst/>
              <a:cxnLst/>
              <a:rect l="l" t="t" r="r" b="b"/>
              <a:pathLst>
                <a:path w="1867198" h="835662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794165"/>
                  </a:lnTo>
                  <a:cubicBezTo>
                    <a:pt x="1867198" y="817083"/>
                    <a:pt x="1848620" y="835662"/>
                    <a:pt x="1825701" y="835662"/>
                  </a:cubicBezTo>
                  <a:lnTo>
                    <a:pt x="41497" y="835662"/>
                  </a:lnTo>
                  <a:cubicBezTo>
                    <a:pt x="30491" y="835662"/>
                    <a:pt x="19936" y="831290"/>
                    <a:pt x="12154" y="823507"/>
                  </a:cubicBezTo>
                  <a:cubicBezTo>
                    <a:pt x="4372" y="815725"/>
                    <a:pt x="0" y="805170"/>
                    <a:pt x="0" y="794165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867198" cy="816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411145" y="3157586"/>
            <a:ext cx="9331078" cy="3971829"/>
          </a:xfrm>
          <a:custGeom>
            <a:avLst/>
            <a:gdLst/>
            <a:ahLst/>
            <a:cxnLst/>
            <a:rect l="l" t="t" r="r" b="b"/>
            <a:pathLst>
              <a:path w="9331078" h="3971829">
                <a:moveTo>
                  <a:pt x="0" y="0"/>
                </a:moveTo>
                <a:lnTo>
                  <a:pt x="9331077" y="0"/>
                </a:lnTo>
                <a:lnTo>
                  <a:pt x="9331077" y="3971828"/>
                </a:lnTo>
                <a:lnTo>
                  <a:pt x="0" y="3971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74068" y="2243800"/>
            <a:ext cx="6088415" cy="149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6"/>
              </a:lnSpc>
            </a:pPr>
            <a:r>
              <a:rPr lang="en-US" sz="4179" b="1" spc="-175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Always-On Media Strategy</a:t>
            </a:r>
          </a:p>
          <a:p>
            <a:pPr algn="l">
              <a:lnSpc>
                <a:spcPts val="2500"/>
              </a:lnSpc>
            </a:pPr>
            <a:endParaRPr lang="en-US" sz="4179" b="1" spc="-175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60906" y="6075872"/>
            <a:ext cx="4220171" cy="35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300" b="1" spc="-9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Strategic Takeaway for bKash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4068" y="6899152"/>
            <a:ext cx="5524678" cy="1622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15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 maintains an always-on presence (90–100%) each quarter, acting as a defensive shield to protect its network and customer base. Competitors go dark off-peak and launch short, concentrated bursts during festive or cricket periods. bKash’s strategy: maintain steady baseline visibility and exploit low-cost off-peak windows rather than reacting to seasonal spikes.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87937" y="3138101"/>
            <a:ext cx="5691760" cy="5770328"/>
            <a:chOff x="0" y="0"/>
            <a:chExt cx="1499064" cy="15197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9064" cy="1519757"/>
            </a:xfrm>
            <a:custGeom>
              <a:avLst/>
              <a:gdLst/>
              <a:ahLst/>
              <a:cxnLst/>
              <a:rect l="l" t="t" r="r" b="b"/>
              <a:pathLst>
                <a:path w="1499064" h="1519757">
                  <a:moveTo>
                    <a:pt x="51688" y="0"/>
                  </a:moveTo>
                  <a:lnTo>
                    <a:pt x="1447377" y="0"/>
                  </a:lnTo>
                  <a:cubicBezTo>
                    <a:pt x="1461085" y="0"/>
                    <a:pt x="1474232" y="5446"/>
                    <a:pt x="1483925" y="15139"/>
                  </a:cubicBezTo>
                  <a:cubicBezTo>
                    <a:pt x="1493619" y="24832"/>
                    <a:pt x="1499064" y="37979"/>
                    <a:pt x="1499064" y="51688"/>
                  </a:cubicBezTo>
                  <a:lnTo>
                    <a:pt x="1499064" y="1468070"/>
                  </a:lnTo>
                  <a:cubicBezTo>
                    <a:pt x="1499064" y="1496616"/>
                    <a:pt x="1475923" y="1519757"/>
                    <a:pt x="1447377" y="1519757"/>
                  </a:cubicBezTo>
                  <a:lnTo>
                    <a:pt x="51688" y="1519757"/>
                  </a:lnTo>
                  <a:cubicBezTo>
                    <a:pt x="37979" y="1519757"/>
                    <a:pt x="24832" y="1514312"/>
                    <a:pt x="15139" y="1504618"/>
                  </a:cubicBezTo>
                  <a:cubicBezTo>
                    <a:pt x="5446" y="1494925"/>
                    <a:pt x="0" y="1481778"/>
                    <a:pt x="0" y="1468070"/>
                  </a:cubicBezTo>
                  <a:lnTo>
                    <a:pt x="0" y="51688"/>
                  </a:lnTo>
                  <a:cubicBezTo>
                    <a:pt x="0" y="37979"/>
                    <a:pt x="5446" y="24832"/>
                    <a:pt x="15139" y="15139"/>
                  </a:cubicBezTo>
                  <a:cubicBezTo>
                    <a:pt x="24832" y="5446"/>
                    <a:pt x="37979" y="0"/>
                    <a:pt x="51688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499064" cy="1500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3517452"/>
            <a:ext cx="10306608" cy="5119622"/>
          </a:xfrm>
          <a:custGeom>
            <a:avLst/>
            <a:gdLst/>
            <a:ahLst/>
            <a:cxnLst/>
            <a:rect l="l" t="t" r="r" b="b"/>
            <a:pathLst>
              <a:path w="10306608" h="5119622">
                <a:moveTo>
                  <a:pt x="0" y="0"/>
                </a:moveTo>
                <a:lnTo>
                  <a:pt x="10306608" y="0"/>
                </a:lnTo>
                <a:lnTo>
                  <a:pt x="10306608" y="5119622"/>
                </a:lnTo>
                <a:lnTo>
                  <a:pt x="0" y="5119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662040" y="3907313"/>
            <a:ext cx="3801406" cy="71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b="1" spc="-10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Thematic Landscape</a:t>
            </a:r>
          </a:p>
          <a:p>
            <a:pPr algn="l">
              <a:lnSpc>
                <a:spcPts val="2552"/>
              </a:lnSpc>
            </a:pPr>
            <a:endParaRPr lang="en-US" sz="2454" b="1" spc="-103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662040" y="4743287"/>
            <a:ext cx="4075509" cy="389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 spreads media across App Adoption, Utility Bill Payments, and Core Brand Equity, building long-term consumer retention. Competitors focus on short-term “Cash-Out Fee Wars” and seasonal cashback promotions.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endParaRPr lang="en-US" sz="1576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Recommendation: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bKash should avoid price-matching and emphasize high-value ecosystem features like remittance, banking partnerships, and merchant coverage where competitors cannot compete.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endParaRPr lang="en-US" sz="1576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1789608"/>
            <a:ext cx="9656252" cy="624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4640" b="1" spc="-194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Campaign Messaging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24833" y="2252260"/>
            <a:ext cx="10048581" cy="6656169"/>
          </a:xfrm>
          <a:custGeom>
            <a:avLst/>
            <a:gdLst/>
            <a:ahLst/>
            <a:cxnLst/>
            <a:rect l="l" t="t" r="r" b="b"/>
            <a:pathLst>
              <a:path w="10048581" h="6656169">
                <a:moveTo>
                  <a:pt x="0" y="0"/>
                </a:moveTo>
                <a:lnTo>
                  <a:pt x="10048581" y="0"/>
                </a:lnTo>
                <a:lnTo>
                  <a:pt x="10048581" y="6656169"/>
                </a:lnTo>
                <a:lnTo>
                  <a:pt x="0" y="6656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233210"/>
            <a:ext cx="6088415" cy="111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6"/>
              </a:lnSpc>
            </a:pPr>
            <a:r>
              <a:rPr lang="en-US" sz="4179" b="1" spc="-175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Advertising Timing &amp; Daypart Strategy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274171"/>
            <a:ext cx="5691760" cy="4840111"/>
            <a:chOff x="0" y="0"/>
            <a:chExt cx="1499064" cy="12747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99064" cy="1274762"/>
            </a:xfrm>
            <a:custGeom>
              <a:avLst/>
              <a:gdLst/>
              <a:ahLst/>
              <a:cxnLst/>
              <a:rect l="l" t="t" r="r" b="b"/>
              <a:pathLst>
                <a:path w="1499064" h="1274762">
                  <a:moveTo>
                    <a:pt x="51688" y="0"/>
                  </a:moveTo>
                  <a:lnTo>
                    <a:pt x="1447377" y="0"/>
                  </a:lnTo>
                  <a:cubicBezTo>
                    <a:pt x="1461085" y="0"/>
                    <a:pt x="1474232" y="5446"/>
                    <a:pt x="1483925" y="15139"/>
                  </a:cubicBezTo>
                  <a:cubicBezTo>
                    <a:pt x="1493619" y="24832"/>
                    <a:pt x="1499064" y="37979"/>
                    <a:pt x="1499064" y="51688"/>
                  </a:cubicBezTo>
                  <a:lnTo>
                    <a:pt x="1499064" y="1223074"/>
                  </a:lnTo>
                  <a:cubicBezTo>
                    <a:pt x="1499064" y="1251620"/>
                    <a:pt x="1475923" y="1274762"/>
                    <a:pt x="1447377" y="1274762"/>
                  </a:cubicBezTo>
                  <a:lnTo>
                    <a:pt x="51688" y="1274762"/>
                  </a:lnTo>
                  <a:cubicBezTo>
                    <a:pt x="37979" y="1274762"/>
                    <a:pt x="24832" y="1269316"/>
                    <a:pt x="15139" y="1259623"/>
                  </a:cubicBezTo>
                  <a:cubicBezTo>
                    <a:pt x="5446" y="1249930"/>
                    <a:pt x="0" y="1236783"/>
                    <a:pt x="0" y="1223074"/>
                  </a:cubicBezTo>
                  <a:lnTo>
                    <a:pt x="0" y="51688"/>
                  </a:lnTo>
                  <a:cubicBezTo>
                    <a:pt x="0" y="37979"/>
                    <a:pt x="5446" y="24832"/>
                    <a:pt x="15139" y="15139"/>
                  </a:cubicBezTo>
                  <a:cubicBezTo>
                    <a:pt x="24832" y="5446"/>
                    <a:pt x="37979" y="0"/>
                    <a:pt x="51688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499064" cy="1255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76397" y="5133975"/>
            <a:ext cx="4816261" cy="65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300" b="1" spc="-9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Analyzing Chronological Campaign Lifespans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6397" y="6180420"/>
            <a:ext cx="4649180" cy="215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15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 runs continuous campaigns across Utility Bill Payments, Core P2P, and App Ecosystems, building habitual consumer usage. DBBL Rocket keeps a baseline for its tagline but has fragmented deployment for value-added services. Key takeaway: bKash uses TV as an interactive classroom to expand user engagement, while Rocket relies on traditional corporate messaging.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262850"/>
            <a:ext cx="7950755" cy="6326668"/>
          </a:xfrm>
          <a:custGeom>
            <a:avLst/>
            <a:gdLst/>
            <a:ahLst/>
            <a:cxnLst/>
            <a:rect l="l" t="t" r="r" b="b"/>
            <a:pathLst>
              <a:path w="7950755" h="6326668">
                <a:moveTo>
                  <a:pt x="0" y="0"/>
                </a:moveTo>
                <a:lnTo>
                  <a:pt x="7950755" y="0"/>
                </a:lnTo>
                <a:lnTo>
                  <a:pt x="7950755" y="6326667"/>
                </a:lnTo>
                <a:lnTo>
                  <a:pt x="0" y="632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794068" y="2551371"/>
            <a:ext cx="9864667" cy="145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74"/>
              </a:lnSpc>
            </a:pPr>
            <a:r>
              <a:rPr lang="en-US" sz="4109" b="1" spc="-172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Category Whitespace Mapping: Uncovering Structural Blind Spots</a:t>
            </a:r>
          </a:p>
          <a:p>
            <a:pPr algn="r">
              <a:lnSpc>
                <a:spcPts val="2459"/>
              </a:lnSpc>
            </a:pPr>
            <a:endParaRPr lang="en-US" sz="4109" b="1" spc="-172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855815" y="4007799"/>
            <a:ext cx="6802920" cy="4627037"/>
            <a:chOff x="0" y="0"/>
            <a:chExt cx="1791716" cy="12186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1716" cy="1218643"/>
            </a:xfrm>
            <a:custGeom>
              <a:avLst/>
              <a:gdLst/>
              <a:ahLst/>
              <a:cxnLst/>
              <a:rect l="l" t="t" r="r" b="b"/>
              <a:pathLst>
                <a:path w="1791716" h="1218643">
                  <a:moveTo>
                    <a:pt x="43245" y="0"/>
                  </a:moveTo>
                  <a:lnTo>
                    <a:pt x="1748471" y="0"/>
                  </a:lnTo>
                  <a:cubicBezTo>
                    <a:pt x="1772354" y="0"/>
                    <a:pt x="1791716" y="19361"/>
                    <a:pt x="1791716" y="43245"/>
                  </a:cubicBezTo>
                  <a:lnTo>
                    <a:pt x="1791716" y="1175398"/>
                  </a:lnTo>
                  <a:cubicBezTo>
                    <a:pt x="1791716" y="1199282"/>
                    <a:pt x="1772354" y="1218643"/>
                    <a:pt x="1748471" y="1218643"/>
                  </a:cubicBezTo>
                  <a:lnTo>
                    <a:pt x="43245" y="1218643"/>
                  </a:lnTo>
                  <a:cubicBezTo>
                    <a:pt x="19361" y="1218643"/>
                    <a:pt x="0" y="1199282"/>
                    <a:pt x="0" y="1175398"/>
                  </a:cubicBezTo>
                  <a:lnTo>
                    <a:pt x="0" y="43245"/>
                  </a:lnTo>
                  <a:cubicBezTo>
                    <a:pt x="0" y="19361"/>
                    <a:pt x="19361" y="0"/>
                    <a:pt x="43245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791716" cy="1199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726402" y="4427140"/>
            <a:ext cx="4871141" cy="71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b="1" spc="-10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Identify Unoccupied Strategic Fields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26402" y="5514975"/>
            <a:ext cx="4871141" cy="251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 is diversified but faces pricing attack risks due to its large footprint. 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Two whitespace opportunities exist: 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1. B2B Small Merchant Growth : No MFS brand targets retail shopkeepers and micro-entrepreneurs effectively.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(2) Modern Lifestyle Integration: MFS can be framed as a seamless part of daily urban routines, beyond generic cash-out messaging.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15880" y="3048977"/>
            <a:ext cx="10317831" cy="5064545"/>
          </a:xfrm>
          <a:custGeom>
            <a:avLst/>
            <a:gdLst/>
            <a:ahLst/>
            <a:cxnLst/>
            <a:rect l="l" t="t" r="r" b="b"/>
            <a:pathLst>
              <a:path w="10317831" h="5064545">
                <a:moveTo>
                  <a:pt x="0" y="0"/>
                </a:moveTo>
                <a:lnTo>
                  <a:pt x="10317831" y="0"/>
                </a:lnTo>
                <a:lnTo>
                  <a:pt x="10317831" y="5064545"/>
                </a:lnTo>
                <a:lnTo>
                  <a:pt x="0" y="506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3132" y="2243800"/>
            <a:ext cx="6088415" cy="204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6"/>
              </a:lnSpc>
            </a:pPr>
            <a:r>
              <a:rPr lang="en-US" sz="4179" b="1" spc="-175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Media Efficiency ROI: Maximizing Share of Voice per Taka Expended</a:t>
            </a:r>
          </a:p>
          <a:p>
            <a:pPr algn="l">
              <a:lnSpc>
                <a:spcPts val="2500"/>
              </a:lnSpc>
            </a:pPr>
            <a:endParaRPr lang="en-US" sz="4179" b="1" spc="-175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723132" y="4602483"/>
            <a:ext cx="5691760" cy="4840111"/>
            <a:chOff x="0" y="0"/>
            <a:chExt cx="1499064" cy="12747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99064" cy="1274762"/>
            </a:xfrm>
            <a:custGeom>
              <a:avLst/>
              <a:gdLst/>
              <a:ahLst/>
              <a:cxnLst/>
              <a:rect l="l" t="t" r="r" b="b"/>
              <a:pathLst>
                <a:path w="1499064" h="1274762">
                  <a:moveTo>
                    <a:pt x="51688" y="0"/>
                  </a:moveTo>
                  <a:lnTo>
                    <a:pt x="1447377" y="0"/>
                  </a:lnTo>
                  <a:cubicBezTo>
                    <a:pt x="1461085" y="0"/>
                    <a:pt x="1474232" y="5446"/>
                    <a:pt x="1483925" y="15139"/>
                  </a:cubicBezTo>
                  <a:cubicBezTo>
                    <a:pt x="1493619" y="24832"/>
                    <a:pt x="1499064" y="37979"/>
                    <a:pt x="1499064" y="51688"/>
                  </a:cubicBezTo>
                  <a:lnTo>
                    <a:pt x="1499064" y="1223074"/>
                  </a:lnTo>
                  <a:cubicBezTo>
                    <a:pt x="1499064" y="1251620"/>
                    <a:pt x="1475923" y="1274762"/>
                    <a:pt x="1447377" y="1274762"/>
                  </a:cubicBezTo>
                  <a:lnTo>
                    <a:pt x="51688" y="1274762"/>
                  </a:lnTo>
                  <a:cubicBezTo>
                    <a:pt x="37979" y="1274762"/>
                    <a:pt x="24832" y="1269316"/>
                    <a:pt x="15139" y="1259623"/>
                  </a:cubicBezTo>
                  <a:cubicBezTo>
                    <a:pt x="5446" y="1249930"/>
                    <a:pt x="0" y="1236783"/>
                    <a:pt x="0" y="1223074"/>
                  </a:cubicBezTo>
                  <a:lnTo>
                    <a:pt x="0" y="51688"/>
                  </a:lnTo>
                  <a:cubicBezTo>
                    <a:pt x="0" y="37979"/>
                    <a:pt x="5446" y="24832"/>
                    <a:pt x="15139" y="15139"/>
                  </a:cubicBezTo>
                  <a:cubicBezTo>
                    <a:pt x="24832" y="5446"/>
                    <a:pt x="37979" y="0"/>
                    <a:pt x="51688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499064" cy="1255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09315" y="5571724"/>
            <a:ext cx="4816261" cy="65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300" b="1" spc="-9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Strategic Spread Between Category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9315" y="6399294"/>
            <a:ext cx="4649180" cy="188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15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 achieves high media efficiency, with SOV% exceeding SOS%, leveraging volume scale for maximum attention. Competitors overpay, especially during festive or cricket spikes, reducing ROI.</a:t>
            </a:r>
          </a:p>
          <a:p>
            <a:pPr algn="l">
              <a:lnSpc>
                <a:spcPts val="2135"/>
              </a:lnSpc>
              <a:spcBef>
                <a:spcPct val="0"/>
              </a:spcBef>
            </a:pPr>
            <a:endParaRPr lang="en-US" sz="1525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15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Key takeaway: sustained, year-round media anchors drive true dominance, not reactive budget spikes.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876456"/>
            <a:ext cx="11241200" cy="5031973"/>
          </a:xfrm>
          <a:custGeom>
            <a:avLst/>
            <a:gdLst/>
            <a:ahLst/>
            <a:cxnLst/>
            <a:rect l="l" t="t" r="r" b="b"/>
            <a:pathLst>
              <a:path w="11241200" h="5031973">
                <a:moveTo>
                  <a:pt x="0" y="0"/>
                </a:moveTo>
                <a:lnTo>
                  <a:pt x="11241200" y="0"/>
                </a:lnTo>
                <a:lnTo>
                  <a:pt x="11241200" y="5031973"/>
                </a:lnTo>
                <a:lnTo>
                  <a:pt x="0" y="503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789608"/>
            <a:ext cx="9656252" cy="166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4640" b="1" spc="-19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Daypart Strategy: Balancing Off-Peak Reach with Prime-Time Clutter</a:t>
            </a:r>
          </a:p>
          <a:p>
            <a:pPr algn="l">
              <a:lnSpc>
                <a:spcPts val="2776"/>
              </a:lnSpc>
            </a:pPr>
            <a:endParaRPr lang="en-US" sz="4640" b="1" spc="-194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2935124" y="3454697"/>
            <a:ext cx="5144573" cy="5453733"/>
            <a:chOff x="0" y="0"/>
            <a:chExt cx="1354949" cy="14363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54949" cy="1436374"/>
            </a:xfrm>
            <a:custGeom>
              <a:avLst/>
              <a:gdLst/>
              <a:ahLst/>
              <a:cxnLst/>
              <a:rect l="l" t="t" r="r" b="b"/>
              <a:pathLst>
                <a:path w="1354949" h="1436374">
                  <a:moveTo>
                    <a:pt x="57185" y="0"/>
                  </a:moveTo>
                  <a:lnTo>
                    <a:pt x="1297764" y="0"/>
                  </a:lnTo>
                  <a:cubicBezTo>
                    <a:pt x="1312931" y="0"/>
                    <a:pt x="1327476" y="6025"/>
                    <a:pt x="1338200" y="16749"/>
                  </a:cubicBezTo>
                  <a:cubicBezTo>
                    <a:pt x="1348924" y="27473"/>
                    <a:pt x="1354949" y="42019"/>
                    <a:pt x="1354949" y="57185"/>
                  </a:cubicBezTo>
                  <a:lnTo>
                    <a:pt x="1354949" y="1379189"/>
                  </a:lnTo>
                  <a:cubicBezTo>
                    <a:pt x="1354949" y="1394355"/>
                    <a:pt x="1348924" y="1408901"/>
                    <a:pt x="1338200" y="1419625"/>
                  </a:cubicBezTo>
                  <a:cubicBezTo>
                    <a:pt x="1327476" y="1430349"/>
                    <a:pt x="1312931" y="1436374"/>
                    <a:pt x="1297764" y="1436374"/>
                  </a:cubicBezTo>
                  <a:lnTo>
                    <a:pt x="57185" y="1436374"/>
                  </a:lnTo>
                  <a:cubicBezTo>
                    <a:pt x="42019" y="1436374"/>
                    <a:pt x="27473" y="1430349"/>
                    <a:pt x="16749" y="1419625"/>
                  </a:cubicBezTo>
                  <a:cubicBezTo>
                    <a:pt x="6025" y="1408901"/>
                    <a:pt x="0" y="1394355"/>
                    <a:pt x="0" y="1379189"/>
                  </a:cubicBezTo>
                  <a:lnTo>
                    <a:pt x="0" y="57185"/>
                  </a:lnTo>
                  <a:cubicBezTo>
                    <a:pt x="0" y="42019"/>
                    <a:pt x="6025" y="27473"/>
                    <a:pt x="16749" y="16749"/>
                  </a:cubicBezTo>
                  <a:cubicBezTo>
                    <a:pt x="27473" y="6025"/>
                    <a:pt x="42019" y="0"/>
                    <a:pt x="57185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354949" cy="1417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82876" y="3907313"/>
            <a:ext cx="3901060" cy="71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b="1" spc="-10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Deconstructing Time-Block Frequency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82876" y="4743287"/>
            <a:ext cx="3683704" cy="3341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 spreads ad frequency across Morning and Afternoon slots, capturing attentive off-peak audiences like homemakers and local merchants efficiently. Competitors over-index on congested Prime Time (6–12PM), paying higher rates and reducing frequency efficiency. 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endParaRPr lang="en-US" sz="1576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Key insight: bKash builds daily usage habits, while challengers rely on high-impact, short-term corporate messaging.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6708" y="5083394"/>
            <a:ext cx="3293766" cy="4174906"/>
            <a:chOff x="0" y="0"/>
            <a:chExt cx="867494" cy="10995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7494" cy="1099564"/>
            </a:xfrm>
            <a:custGeom>
              <a:avLst/>
              <a:gdLst/>
              <a:ahLst/>
              <a:cxnLst/>
              <a:rect l="l" t="t" r="r" b="b"/>
              <a:pathLst>
                <a:path w="867494" h="1099564">
                  <a:moveTo>
                    <a:pt x="82267" y="0"/>
                  </a:moveTo>
                  <a:lnTo>
                    <a:pt x="785227" y="0"/>
                  </a:lnTo>
                  <a:cubicBezTo>
                    <a:pt x="807046" y="0"/>
                    <a:pt x="827970" y="8667"/>
                    <a:pt x="843399" y="24095"/>
                  </a:cubicBezTo>
                  <a:cubicBezTo>
                    <a:pt x="858826" y="39523"/>
                    <a:pt x="867494" y="60448"/>
                    <a:pt x="867494" y="82267"/>
                  </a:cubicBezTo>
                  <a:lnTo>
                    <a:pt x="867494" y="1017297"/>
                  </a:lnTo>
                  <a:cubicBezTo>
                    <a:pt x="867494" y="1039115"/>
                    <a:pt x="858826" y="1060040"/>
                    <a:pt x="843399" y="1075468"/>
                  </a:cubicBezTo>
                  <a:cubicBezTo>
                    <a:pt x="827970" y="1090896"/>
                    <a:pt x="807046" y="1099564"/>
                    <a:pt x="785227" y="1099564"/>
                  </a:cubicBezTo>
                  <a:lnTo>
                    <a:pt x="82267" y="1099564"/>
                  </a:lnTo>
                  <a:cubicBezTo>
                    <a:pt x="60448" y="1099564"/>
                    <a:pt x="39523" y="1090896"/>
                    <a:pt x="24095" y="1075468"/>
                  </a:cubicBezTo>
                  <a:cubicBezTo>
                    <a:pt x="8667" y="1060040"/>
                    <a:pt x="0" y="1039115"/>
                    <a:pt x="0" y="1017297"/>
                  </a:cubicBezTo>
                  <a:lnTo>
                    <a:pt x="0" y="82267"/>
                  </a:lnTo>
                  <a:cubicBezTo>
                    <a:pt x="0" y="60448"/>
                    <a:pt x="8667" y="39523"/>
                    <a:pt x="24095" y="24095"/>
                  </a:cubicBezTo>
                  <a:cubicBezTo>
                    <a:pt x="39523" y="8667"/>
                    <a:pt x="60448" y="0"/>
                    <a:pt x="8226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867494" cy="1080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56438" y="1631710"/>
            <a:ext cx="13775124" cy="2638134"/>
            <a:chOff x="0" y="0"/>
            <a:chExt cx="3628016" cy="6948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28016" cy="694817"/>
            </a:xfrm>
            <a:custGeom>
              <a:avLst/>
              <a:gdLst/>
              <a:ahLst/>
              <a:cxnLst/>
              <a:rect l="l" t="t" r="r" b="b"/>
              <a:pathLst>
                <a:path w="3628016" h="694817">
                  <a:moveTo>
                    <a:pt x="19671" y="0"/>
                  </a:moveTo>
                  <a:lnTo>
                    <a:pt x="3608345" y="0"/>
                  </a:lnTo>
                  <a:cubicBezTo>
                    <a:pt x="3619209" y="0"/>
                    <a:pt x="3628016" y="8807"/>
                    <a:pt x="3628016" y="19671"/>
                  </a:cubicBezTo>
                  <a:lnTo>
                    <a:pt x="3628016" y="675146"/>
                  </a:lnTo>
                  <a:cubicBezTo>
                    <a:pt x="3628016" y="680363"/>
                    <a:pt x="3625944" y="685367"/>
                    <a:pt x="3622255" y="689056"/>
                  </a:cubicBezTo>
                  <a:cubicBezTo>
                    <a:pt x="3618566" y="692745"/>
                    <a:pt x="3613562" y="694817"/>
                    <a:pt x="3608345" y="694817"/>
                  </a:cubicBezTo>
                  <a:lnTo>
                    <a:pt x="19671" y="694817"/>
                  </a:lnTo>
                  <a:cubicBezTo>
                    <a:pt x="14454" y="694817"/>
                    <a:pt x="9450" y="692745"/>
                    <a:pt x="5761" y="689056"/>
                  </a:cubicBezTo>
                  <a:cubicBezTo>
                    <a:pt x="2072" y="685367"/>
                    <a:pt x="0" y="680363"/>
                    <a:pt x="0" y="675146"/>
                  </a:cubicBezTo>
                  <a:lnTo>
                    <a:pt x="0" y="19671"/>
                  </a:lnTo>
                  <a:cubicBezTo>
                    <a:pt x="0" y="14454"/>
                    <a:pt x="2072" y="9450"/>
                    <a:pt x="5761" y="5761"/>
                  </a:cubicBezTo>
                  <a:cubicBezTo>
                    <a:pt x="9450" y="2072"/>
                    <a:pt x="14454" y="0"/>
                    <a:pt x="196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3628016" cy="675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97117" y="5143500"/>
            <a:ext cx="3293766" cy="4114800"/>
            <a:chOff x="0" y="0"/>
            <a:chExt cx="867494" cy="10837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7494" cy="1083733"/>
            </a:xfrm>
            <a:custGeom>
              <a:avLst/>
              <a:gdLst/>
              <a:ahLst/>
              <a:cxnLst/>
              <a:rect l="l" t="t" r="r" b="b"/>
              <a:pathLst>
                <a:path w="867494" h="1083733">
                  <a:moveTo>
                    <a:pt x="82267" y="0"/>
                  </a:moveTo>
                  <a:lnTo>
                    <a:pt x="785227" y="0"/>
                  </a:lnTo>
                  <a:cubicBezTo>
                    <a:pt x="807046" y="0"/>
                    <a:pt x="827970" y="8667"/>
                    <a:pt x="843399" y="24095"/>
                  </a:cubicBezTo>
                  <a:cubicBezTo>
                    <a:pt x="858826" y="39523"/>
                    <a:pt x="867494" y="60448"/>
                    <a:pt x="867494" y="82267"/>
                  </a:cubicBezTo>
                  <a:lnTo>
                    <a:pt x="867494" y="1001467"/>
                  </a:lnTo>
                  <a:cubicBezTo>
                    <a:pt x="867494" y="1023285"/>
                    <a:pt x="858826" y="1044210"/>
                    <a:pt x="843399" y="1059638"/>
                  </a:cubicBezTo>
                  <a:cubicBezTo>
                    <a:pt x="827970" y="1075066"/>
                    <a:pt x="807046" y="1083733"/>
                    <a:pt x="785227" y="1083733"/>
                  </a:cubicBezTo>
                  <a:lnTo>
                    <a:pt x="82267" y="1083733"/>
                  </a:lnTo>
                  <a:cubicBezTo>
                    <a:pt x="60448" y="1083733"/>
                    <a:pt x="39523" y="1075066"/>
                    <a:pt x="24095" y="1059638"/>
                  </a:cubicBezTo>
                  <a:cubicBezTo>
                    <a:pt x="8667" y="1044210"/>
                    <a:pt x="0" y="1023285"/>
                    <a:pt x="0" y="1001467"/>
                  </a:cubicBezTo>
                  <a:lnTo>
                    <a:pt x="0" y="82267"/>
                  </a:lnTo>
                  <a:cubicBezTo>
                    <a:pt x="0" y="60448"/>
                    <a:pt x="8667" y="39523"/>
                    <a:pt x="24095" y="24095"/>
                  </a:cubicBezTo>
                  <a:cubicBezTo>
                    <a:pt x="39523" y="8667"/>
                    <a:pt x="60448" y="0"/>
                    <a:pt x="8226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867494" cy="106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49426" y="5143500"/>
            <a:ext cx="3293766" cy="4114800"/>
            <a:chOff x="0" y="0"/>
            <a:chExt cx="867494" cy="10837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7494" cy="1083733"/>
            </a:xfrm>
            <a:custGeom>
              <a:avLst/>
              <a:gdLst/>
              <a:ahLst/>
              <a:cxnLst/>
              <a:rect l="l" t="t" r="r" b="b"/>
              <a:pathLst>
                <a:path w="867494" h="1083733">
                  <a:moveTo>
                    <a:pt x="82267" y="0"/>
                  </a:moveTo>
                  <a:lnTo>
                    <a:pt x="785227" y="0"/>
                  </a:lnTo>
                  <a:cubicBezTo>
                    <a:pt x="807046" y="0"/>
                    <a:pt x="827970" y="8667"/>
                    <a:pt x="843399" y="24095"/>
                  </a:cubicBezTo>
                  <a:cubicBezTo>
                    <a:pt x="858826" y="39523"/>
                    <a:pt x="867494" y="60448"/>
                    <a:pt x="867494" y="82267"/>
                  </a:cubicBezTo>
                  <a:lnTo>
                    <a:pt x="867494" y="1001467"/>
                  </a:lnTo>
                  <a:cubicBezTo>
                    <a:pt x="867494" y="1023285"/>
                    <a:pt x="858826" y="1044210"/>
                    <a:pt x="843399" y="1059638"/>
                  </a:cubicBezTo>
                  <a:cubicBezTo>
                    <a:pt x="827970" y="1075066"/>
                    <a:pt x="807046" y="1083733"/>
                    <a:pt x="785227" y="1083733"/>
                  </a:cubicBezTo>
                  <a:lnTo>
                    <a:pt x="82267" y="1083733"/>
                  </a:lnTo>
                  <a:cubicBezTo>
                    <a:pt x="60448" y="1083733"/>
                    <a:pt x="39523" y="1075066"/>
                    <a:pt x="24095" y="1059638"/>
                  </a:cubicBezTo>
                  <a:cubicBezTo>
                    <a:pt x="8667" y="1044210"/>
                    <a:pt x="0" y="1023285"/>
                    <a:pt x="0" y="1001467"/>
                  </a:cubicBezTo>
                  <a:lnTo>
                    <a:pt x="0" y="82267"/>
                  </a:lnTo>
                  <a:cubicBezTo>
                    <a:pt x="0" y="60448"/>
                    <a:pt x="8667" y="39523"/>
                    <a:pt x="24095" y="24095"/>
                  </a:cubicBezTo>
                  <a:cubicBezTo>
                    <a:pt x="39523" y="8667"/>
                    <a:pt x="60448" y="0"/>
                    <a:pt x="8226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867494" cy="106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363478" y="2562887"/>
            <a:ext cx="12846287" cy="756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2"/>
              </a:lnSpc>
            </a:pPr>
            <a:r>
              <a:rPr lang="en-US" sz="4896" b="1" spc="-20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Future Campaign Planning &amp; Smarter Timing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63478" y="5490642"/>
            <a:ext cx="1932485" cy="114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708" b="1" spc="-11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Pre-Peak Flighting Pivot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40311" y="5490642"/>
            <a:ext cx="1932485" cy="114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708" b="1" spc="-11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Payday Capture Windows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63478" y="6992270"/>
            <a:ext cx="2432695" cy="168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Shift 15% of festive budget to 14–20 days before major cycles to secure prime spots at standard rates, avoiding end-of-Ramadan congestion.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40311" y="6992270"/>
            <a:ext cx="2607378" cy="196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Schedule high-utility app features (bill payments, remittance) between the 28th and 5th to align with payroll liquidity, ensuring maximum transactional engagement.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endParaRPr lang="en-US" sz="1576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019608" y="5490642"/>
            <a:ext cx="1932485" cy="114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708" b="1" spc="-11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Counter-Cyclical Continuity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19608" y="6992270"/>
            <a:ext cx="2549340" cy="196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Maintain a low-cost, always-on baseline during off-peak periods when competitors are dark, securing high Share of Voice at reduced cost.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endParaRPr lang="en-US" sz="1576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84060" y="4971492"/>
            <a:ext cx="5825238" cy="4174906"/>
            <a:chOff x="0" y="0"/>
            <a:chExt cx="1534219" cy="10995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4219" cy="1099564"/>
            </a:xfrm>
            <a:custGeom>
              <a:avLst/>
              <a:gdLst/>
              <a:ahLst/>
              <a:cxnLst/>
              <a:rect l="l" t="t" r="r" b="b"/>
              <a:pathLst>
                <a:path w="1534219" h="1099564">
                  <a:moveTo>
                    <a:pt x="46516" y="0"/>
                  </a:moveTo>
                  <a:lnTo>
                    <a:pt x="1487703" y="0"/>
                  </a:lnTo>
                  <a:cubicBezTo>
                    <a:pt x="1500040" y="0"/>
                    <a:pt x="1511872" y="4901"/>
                    <a:pt x="1520595" y="13624"/>
                  </a:cubicBezTo>
                  <a:cubicBezTo>
                    <a:pt x="1529318" y="22348"/>
                    <a:pt x="1534219" y="34179"/>
                    <a:pt x="1534219" y="46516"/>
                  </a:cubicBezTo>
                  <a:lnTo>
                    <a:pt x="1534219" y="1053048"/>
                  </a:lnTo>
                  <a:cubicBezTo>
                    <a:pt x="1534219" y="1065384"/>
                    <a:pt x="1529318" y="1077216"/>
                    <a:pt x="1520595" y="1085939"/>
                  </a:cubicBezTo>
                  <a:cubicBezTo>
                    <a:pt x="1511872" y="1094663"/>
                    <a:pt x="1500040" y="1099564"/>
                    <a:pt x="1487703" y="1099564"/>
                  </a:cubicBezTo>
                  <a:lnTo>
                    <a:pt x="46516" y="1099564"/>
                  </a:lnTo>
                  <a:cubicBezTo>
                    <a:pt x="34179" y="1099564"/>
                    <a:pt x="22348" y="1094663"/>
                    <a:pt x="13624" y="1085939"/>
                  </a:cubicBezTo>
                  <a:cubicBezTo>
                    <a:pt x="4901" y="1077216"/>
                    <a:pt x="0" y="1065384"/>
                    <a:pt x="0" y="1053048"/>
                  </a:cubicBezTo>
                  <a:lnTo>
                    <a:pt x="0" y="46516"/>
                  </a:lnTo>
                  <a:cubicBezTo>
                    <a:pt x="0" y="34179"/>
                    <a:pt x="4901" y="22348"/>
                    <a:pt x="13624" y="13624"/>
                  </a:cubicBezTo>
                  <a:cubicBezTo>
                    <a:pt x="22348" y="4901"/>
                    <a:pt x="34179" y="0"/>
                    <a:pt x="46516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534219" cy="1080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56438" y="1631710"/>
            <a:ext cx="13775124" cy="2638134"/>
            <a:chOff x="0" y="0"/>
            <a:chExt cx="3628016" cy="6948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28016" cy="694817"/>
            </a:xfrm>
            <a:custGeom>
              <a:avLst/>
              <a:gdLst/>
              <a:ahLst/>
              <a:cxnLst/>
              <a:rect l="l" t="t" r="r" b="b"/>
              <a:pathLst>
                <a:path w="3628016" h="694817">
                  <a:moveTo>
                    <a:pt x="19671" y="0"/>
                  </a:moveTo>
                  <a:lnTo>
                    <a:pt x="3608345" y="0"/>
                  </a:lnTo>
                  <a:cubicBezTo>
                    <a:pt x="3619209" y="0"/>
                    <a:pt x="3628016" y="8807"/>
                    <a:pt x="3628016" y="19671"/>
                  </a:cubicBezTo>
                  <a:lnTo>
                    <a:pt x="3628016" y="675146"/>
                  </a:lnTo>
                  <a:cubicBezTo>
                    <a:pt x="3628016" y="680363"/>
                    <a:pt x="3625944" y="685367"/>
                    <a:pt x="3622255" y="689056"/>
                  </a:cubicBezTo>
                  <a:cubicBezTo>
                    <a:pt x="3618566" y="692745"/>
                    <a:pt x="3613562" y="694817"/>
                    <a:pt x="3608345" y="694817"/>
                  </a:cubicBezTo>
                  <a:lnTo>
                    <a:pt x="19671" y="694817"/>
                  </a:lnTo>
                  <a:cubicBezTo>
                    <a:pt x="14454" y="694817"/>
                    <a:pt x="9450" y="692745"/>
                    <a:pt x="5761" y="689056"/>
                  </a:cubicBezTo>
                  <a:cubicBezTo>
                    <a:pt x="2072" y="685367"/>
                    <a:pt x="0" y="680363"/>
                    <a:pt x="0" y="675146"/>
                  </a:cubicBezTo>
                  <a:lnTo>
                    <a:pt x="0" y="19671"/>
                  </a:lnTo>
                  <a:cubicBezTo>
                    <a:pt x="0" y="14454"/>
                    <a:pt x="2072" y="9450"/>
                    <a:pt x="5761" y="5761"/>
                  </a:cubicBezTo>
                  <a:cubicBezTo>
                    <a:pt x="9450" y="2072"/>
                    <a:pt x="14454" y="0"/>
                    <a:pt x="196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3628016" cy="675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90234" y="5031598"/>
            <a:ext cx="6330651" cy="4114800"/>
            <a:chOff x="0" y="0"/>
            <a:chExt cx="1667332" cy="10837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67332" cy="1083733"/>
            </a:xfrm>
            <a:custGeom>
              <a:avLst/>
              <a:gdLst/>
              <a:ahLst/>
              <a:cxnLst/>
              <a:rect l="l" t="t" r="r" b="b"/>
              <a:pathLst>
                <a:path w="1667332" h="1083733">
                  <a:moveTo>
                    <a:pt x="42802" y="0"/>
                  </a:moveTo>
                  <a:lnTo>
                    <a:pt x="1624530" y="0"/>
                  </a:lnTo>
                  <a:cubicBezTo>
                    <a:pt x="1648169" y="0"/>
                    <a:pt x="1667332" y="19163"/>
                    <a:pt x="1667332" y="42802"/>
                  </a:cubicBezTo>
                  <a:lnTo>
                    <a:pt x="1667332" y="1040931"/>
                  </a:lnTo>
                  <a:cubicBezTo>
                    <a:pt x="1667332" y="1052283"/>
                    <a:pt x="1662822" y="1063170"/>
                    <a:pt x="1654796" y="1071197"/>
                  </a:cubicBezTo>
                  <a:cubicBezTo>
                    <a:pt x="1646768" y="1079224"/>
                    <a:pt x="1635881" y="1083733"/>
                    <a:pt x="1624530" y="1083733"/>
                  </a:cubicBezTo>
                  <a:lnTo>
                    <a:pt x="42802" y="1083733"/>
                  </a:lnTo>
                  <a:cubicBezTo>
                    <a:pt x="19163" y="1083733"/>
                    <a:pt x="0" y="1064570"/>
                    <a:pt x="0" y="1040931"/>
                  </a:cubicBezTo>
                  <a:lnTo>
                    <a:pt x="0" y="42802"/>
                  </a:lnTo>
                  <a:cubicBezTo>
                    <a:pt x="0" y="19163"/>
                    <a:pt x="19163" y="0"/>
                    <a:pt x="42802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667332" cy="106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584060" y="2620642"/>
            <a:ext cx="13612348" cy="139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2"/>
              </a:lnSpc>
            </a:pPr>
            <a:r>
              <a:rPr lang="en-US" sz="4896" b="1" spc="-20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Competitive Positioning &amp; Messaging Guardrails</a:t>
            </a:r>
          </a:p>
          <a:p>
            <a:pPr algn="l">
              <a:lnSpc>
                <a:spcPts val="5092"/>
              </a:lnSpc>
            </a:pPr>
            <a:endParaRPr lang="en-US" sz="4896" b="1" spc="-205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363478" y="5490642"/>
            <a:ext cx="3601404" cy="431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708" b="1" spc="-11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Refuse the Pricing Bait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64914" y="5312025"/>
            <a:ext cx="5004972" cy="78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708" b="1" spc="-11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Ecosystem Interconnectivity as a Moat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63478" y="6331536"/>
            <a:ext cx="3601404" cy="192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  <a:spcBef>
                <a:spcPct val="0"/>
              </a:spcBef>
            </a:pPr>
            <a:r>
              <a:rPr lang="en-US" sz="180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 should avoid engaging in low-charge or cashback-matching ads on TV. Doing so would commoditize the MFS category and validate competitor price wars, wasting premium airtime.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48181" y="6331536"/>
            <a:ext cx="5021705" cy="2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Focus messaging on features that competitors cannot easily replicate, such as seamless bank-to-wallet/wallet-to-bank transfers, interest-bearing savings and micro-insurance, and the extensive retail merchant network. This positions bKash as an integrated, daily lifestyle platform rather than just a transactional tool.</a:t>
            </a:r>
          </a:p>
          <a:p>
            <a:pPr algn="l">
              <a:lnSpc>
                <a:spcPts val="2544"/>
              </a:lnSpc>
              <a:spcBef>
                <a:spcPct val="0"/>
              </a:spcBef>
            </a:pPr>
            <a:endParaRPr lang="en-US" sz="1817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84060" y="4971492"/>
            <a:ext cx="5825238" cy="4174906"/>
            <a:chOff x="0" y="0"/>
            <a:chExt cx="1534219" cy="10995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4219" cy="1099564"/>
            </a:xfrm>
            <a:custGeom>
              <a:avLst/>
              <a:gdLst/>
              <a:ahLst/>
              <a:cxnLst/>
              <a:rect l="l" t="t" r="r" b="b"/>
              <a:pathLst>
                <a:path w="1534219" h="1099564">
                  <a:moveTo>
                    <a:pt x="46516" y="0"/>
                  </a:moveTo>
                  <a:lnTo>
                    <a:pt x="1487703" y="0"/>
                  </a:lnTo>
                  <a:cubicBezTo>
                    <a:pt x="1500040" y="0"/>
                    <a:pt x="1511872" y="4901"/>
                    <a:pt x="1520595" y="13624"/>
                  </a:cubicBezTo>
                  <a:cubicBezTo>
                    <a:pt x="1529318" y="22348"/>
                    <a:pt x="1534219" y="34179"/>
                    <a:pt x="1534219" y="46516"/>
                  </a:cubicBezTo>
                  <a:lnTo>
                    <a:pt x="1534219" y="1053048"/>
                  </a:lnTo>
                  <a:cubicBezTo>
                    <a:pt x="1534219" y="1065384"/>
                    <a:pt x="1529318" y="1077216"/>
                    <a:pt x="1520595" y="1085939"/>
                  </a:cubicBezTo>
                  <a:cubicBezTo>
                    <a:pt x="1511872" y="1094663"/>
                    <a:pt x="1500040" y="1099564"/>
                    <a:pt x="1487703" y="1099564"/>
                  </a:cubicBezTo>
                  <a:lnTo>
                    <a:pt x="46516" y="1099564"/>
                  </a:lnTo>
                  <a:cubicBezTo>
                    <a:pt x="34179" y="1099564"/>
                    <a:pt x="22348" y="1094663"/>
                    <a:pt x="13624" y="1085939"/>
                  </a:cubicBezTo>
                  <a:cubicBezTo>
                    <a:pt x="4901" y="1077216"/>
                    <a:pt x="0" y="1065384"/>
                    <a:pt x="0" y="1053048"/>
                  </a:cubicBezTo>
                  <a:lnTo>
                    <a:pt x="0" y="46516"/>
                  </a:lnTo>
                  <a:cubicBezTo>
                    <a:pt x="0" y="34179"/>
                    <a:pt x="4901" y="22348"/>
                    <a:pt x="13624" y="13624"/>
                  </a:cubicBezTo>
                  <a:cubicBezTo>
                    <a:pt x="22348" y="4901"/>
                    <a:pt x="34179" y="0"/>
                    <a:pt x="46516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534219" cy="1080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56438" y="1631710"/>
            <a:ext cx="13775124" cy="2638134"/>
            <a:chOff x="0" y="0"/>
            <a:chExt cx="3628016" cy="6948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28016" cy="694817"/>
            </a:xfrm>
            <a:custGeom>
              <a:avLst/>
              <a:gdLst/>
              <a:ahLst/>
              <a:cxnLst/>
              <a:rect l="l" t="t" r="r" b="b"/>
              <a:pathLst>
                <a:path w="3628016" h="694817">
                  <a:moveTo>
                    <a:pt x="19671" y="0"/>
                  </a:moveTo>
                  <a:lnTo>
                    <a:pt x="3608345" y="0"/>
                  </a:lnTo>
                  <a:cubicBezTo>
                    <a:pt x="3619209" y="0"/>
                    <a:pt x="3628016" y="8807"/>
                    <a:pt x="3628016" y="19671"/>
                  </a:cubicBezTo>
                  <a:lnTo>
                    <a:pt x="3628016" y="675146"/>
                  </a:lnTo>
                  <a:cubicBezTo>
                    <a:pt x="3628016" y="680363"/>
                    <a:pt x="3625944" y="685367"/>
                    <a:pt x="3622255" y="689056"/>
                  </a:cubicBezTo>
                  <a:cubicBezTo>
                    <a:pt x="3618566" y="692745"/>
                    <a:pt x="3613562" y="694817"/>
                    <a:pt x="3608345" y="694817"/>
                  </a:cubicBezTo>
                  <a:lnTo>
                    <a:pt x="19671" y="694817"/>
                  </a:lnTo>
                  <a:cubicBezTo>
                    <a:pt x="14454" y="694817"/>
                    <a:pt x="9450" y="692745"/>
                    <a:pt x="5761" y="689056"/>
                  </a:cubicBezTo>
                  <a:cubicBezTo>
                    <a:pt x="2072" y="685367"/>
                    <a:pt x="0" y="680363"/>
                    <a:pt x="0" y="675146"/>
                  </a:cubicBezTo>
                  <a:lnTo>
                    <a:pt x="0" y="19671"/>
                  </a:lnTo>
                  <a:cubicBezTo>
                    <a:pt x="0" y="14454"/>
                    <a:pt x="2072" y="9450"/>
                    <a:pt x="5761" y="5761"/>
                  </a:cubicBezTo>
                  <a:cubicBezTo>
                    <a:pt x="9450" y="2072"/>
                    <a:pt x="14454" y="0"/>
                    <a:pt x="196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3628016" cy="675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90234" y="5031598"/>
            <a:ext cx="6330651" cy="4114800"/>
            <a:chOff x="0" y="0"/>
            <a:chExt cx="1667332" cy="10837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67332" cy="1083733"/>
            </a:xfrm>
            <a:custGeom>
              <a:avLst/>
              <a:gdLst/>
              <a:ahLst/>
              <a:cxnLst/>
              <a:rect l="l" t="t" r="r" b="b"/>
              <a:pathLst>
                <a:path w="1667332" h="1083733">
                  <a:moveTo>
                    <a:pt x="42802" y="0"/>
                  </a:moveTo>
                  <a:lnTo>
                    <a:pt x="1624530" y="0"/>
                  </a:lnTo>
                  <a:cubicBezTo>
                    <a:pt x="1648169" y="0"/>
                    <a:pt x="1667332" y="19163"/>
                    <a:pt x="1667332" y="42802"/>
                  </a:cubicBezTo>
                  <a:lnTo>
                    <a:pt x="1667332" y="1040931"/>
                  </a:lnTo>
                  <a:cubicBezTo>
                    <a:pt x="1667332" y="1052283"/>
                    <a:pt x="1662822" y="1063170"/>
                    <a:pt x="1654796" y="1071197"/>
                  </a:cubicBezTo>
                  <a:cubicBezTo>
                    <a:pt x="1646768" y="1079224"/>
                    <a:pt x="1635881" y="1083733"/>
                    <a:pt x="1624530" y="1083733"/>
                  </a:cubicBezTo>
                  <a:lnTo>
                    <a:pt x="42802" y="1083733"/>
                  </a:lnTo>
                  <a:cubicBezTo>
                    <a:pt x="19163" y="1083733"/>
                    <a:pt x="0" y="1064570"/>
                    <a:pt x="0" y="1040931"/>
                  </a:cubicBezTo>
                  <a:lnTo>
                    <a:pt x="0" y="42802"/>
                  </a:lnTo>
                  <a:cubicBezTo>
                    <a:pt x="0" y="19163"/>
                    <a:pt x="19163" y="0"/>
                    <a:pt x="42802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667332" cy="106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581291" y="2656065"/>
            <a:ext cx="9125419" cy="139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2"/>
              </a:lnSpc>
            </a:pPr>
            <a:r>
              <a:rPr lang="en-US" sz="4896" b="1" spc="-20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Media Deployment Optimization</a:t>
            </a:r>
          </a:p>
          <a:p>
            <a:pPr algn="l">
              <a:lnSpc>
                <a:spcPts val="5092"/>
              </a:lnSpc>
            </a:pPr>
            <a:endParaRPr lang="en-US" sz="4896" b="1" spc="-205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363478" y="5490642"/>
            <a:ext cx="3601404" cy="78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708" b="1" spc="-11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30s-10s Asset Split Rule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64914" y="5312025"/>
            <a:ext cx="5004972" cy="78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708" b="1" spc="-11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70/30 Tactical vs. Long-Term Balance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63478" y="6331536"/>
            <a:ext cx="3601404" cy="2245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  <a:spcBef>
                <a:spcPct val="0"/>
              </a:spcBef>
            </a:pPr>
            <a:r>
              <a:rPr lang="en-US" sz="180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Launch new campaigns with a 30-second story-driven ad to create engagement, then shift 80% of remaining spots to 10-second reminders. This maximizes Share of Voice (SOV%) while keeping costs (SOS%) low.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48181" y="6331536"/>
            <a:ext cx="5021705" cy="225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Allocate 70% of budget to always-on campaigns for core app features, security, and merchant ecosystem. Reserve 30% for tactical bursts during high-velocity periods (pre-Eid, Boishakh) targeting seasonal transactions like merchant cashback and remittance.</a:t>
            </a:r>
          </a:p>
          <a:p>
            <a:pPr algn="l">
              <a:lnSpc>
                <a:spcPts val="2544"/>
              </a:lnSpc>
              <a:spcBef>
                <a:spcPct val="0"/>
              </a:spcBef>
            </a:pPr>
            <a:endParaRPr lang="en-US" sz="1817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2338" y="-7228893"/>
            <a:ext cx="11404113" cy="11487660"/>
          </a:xfrm>
          <a:custGeom>
            <a:avLst/>
            <a:gdLst/>
            <a:ahLst/>
            <a:cxnLst/>
            <a:rect l="l" t="t" r="r" b="b"/>
            <a:pathLst>
              <a:path w="11404113" h="11487660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4800" y="2224750"/>
            <a:ext cx="9558399" cy="150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8"/>
              </a:lnSpc>
            </a:pPr>
            <a:r>
              <a:rPr lang="en-US" sz="9662" b="1" spc="-40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</a:t>
            </a:r>
          </a:p>
        </p:txBody>
      </p:sp>
      <p:grpSp>
        <p:nvGrpSpPr>
          <p:cNvPr id="4" name="Group 4"/>
          <p:cNvGrpSpPr/>
          <p:nvPr/>
        </p:nvGrpSpPr>
        <p:grpSpPr>
          <a:xfrm rot="-851681">
            <a:off x="808966" y="7541919"/>
            <a:ext cx="21825170" cy="18180272"/>
            <a:chOff x="0" y="0"/>
            <a:chExt cx="5748193" cy="47882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48193" cy="4788220"/>
            </a:xfrm>
            <a:custGeom>
              <a:avLst/>
              <a:gdLst/>
              <a:ahLst/>
              <a:cxnLst/>
              <a:rect l="l" t="t" r="r" b="b"/>
              <a:pathLst>
                <a:path w="5748193" h="4788220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1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49726" y="4144467"/>
            <a:ext cx="11505444" cy="212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162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bKash’s leadership stems from superior media strategy, always-on continuity, and a multi-pillar messaging approach. It’s not just about high spending. Competitors overpay for temporary prime-time visibility, while bKash blends evening impact with cost-effective daytime reach. </a:t>
            </a:r>
          </a:p>
          <a:p>
            <a:pPr algn="ctr">
              <a:lnSpc>
                <a:spcPts val="2788"/>
              </a:lnSpc>
            </a:pPr>
            <a:r>
              <a:rPr lang="en-US" sz="162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Key roadmap: avoid price wars, apply the 30s-10s asset split, and target B2B merchants and urban lifestyle whitespaces to secure long-term category dominance.</a:t>
            </a:r>
          </a:p>
          <a:p>
            <a:pPr algn="ctr">
              <a:lnSpc>
                <a:spcPts val="2788"/>
              </a:lnSpc>
            </a:pPr>
            <a:endParaRPr lang="en-US" sz="162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3797" cy="4788220"/>
            </a:xfrm>
            <a:custGeom>
              <a:avLst/>
              <a:gdLst/>
              <a:ahLst/>
              <a:cxnLst/>
              <a:rect l="l" t="t" r="r" b="b"/>
              <a:pathLst>
                <a:path w="5333797" h="4788220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1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013116" y="7109672"/>
            <a:ext cx="3002725" cy="21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@reallygreatsite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80871" y="4001801"/>
            <a:ext cx="14126257" cy="222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sz="14279" b="1" spc="-59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995</Words>
  <Application>Microsoft Office PowerPoint</Application>
  <PresentationFormat>Custom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MT Pro</vt:lpstr>
      <vt:lpstr>Arial</vt:lpstr>
      <vt:lpstr>Arial MT Pro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Green Modern Finance Business Report Presentation</dc:title>
  <dc:creator>User</dc:creator>
  <cp:lastModifiedBy>Maidul  Shanto</cp:lastModifiedBy>
  <cp:revision>3</cp:revision>
  <dcterms:created xsi:type="dcterms:W3CDTF">2006-08-16T00:00:00Z</dcterms:created>
  <dcterms:modified xsi:type="dcterms:W3CDTF">2026-08-30T19:12:21Z</dcterms:modified>
  <dc:identifier>DAHKnbZok-4</dc:identifier>
</cp:coreProperties>
</file>